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Paying Agents (illustrative scenario)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Paying Agents (illustrative)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600</c:v>
                </c:pt>
                <c:pt idx="2">
                  <c:v>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Illustrative ARR, RM'000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ARR (RM'000)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</c:v>
                </c:pt>
                <c:pt idx="1">
                  <c:v>450</c:v>
                </c:pt>
                <c:pt idx="2">
                  <c:v>1350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5.png"/><Relationship Id="rId7" Type="http://schemas.openxmlformats.org/officeDocument/2006/relationships/image" Target="../media/image-13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84048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36192" y="804672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Plan &amp;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Overview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opportunity, business model, unit economics, and the case for building Malaysia's AI property operating layer.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5074920"/>
            <a:ext cx="1415491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074920"/>
            <a:ext cx="141549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5339" y="5074920"/>
            <a:ext cx="1503274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5339" y="5074920"/>
            <a:ext cx="150327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89781" y="5074920"/>
            <a:ext cx="1327709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9781" y="5074920"/>
            <a:ext cx="132770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18658" y="5074920"/>
            <a:ext cx="1591056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8658" y="5074920"/>
            <a:ext cx="15910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10882" y="5074920"/>
            <a:ext cx="888797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0882" y="5074920"/>
            <a:ext cx="88879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  ·  Prepared for investors, competitions, and founding partners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operating layer for Malaysia's property market —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listing portal.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514600"/>
            <a:ext cx="530352" cy="53035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ale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074" y="258354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423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71576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supply is scattered across WhatsApp/Telegram chats; buyer discovery is still manual, directory-style search.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6217920" y="2331720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2514600"/>
            <a:ext cx="530352" cy="53035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C:\Users\Arvind Govindasamy\AppData\Local\Temp\claude\c--Users-Arvind-Govindasamy-Documents-New-project\04443274-4b6e-4c6c-ada9-d7d945b6d176\scratchpad\pitch-deck\icons\compas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034" y="2583546"/>
            <a:ext cx="392460" cy="392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423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86600" y="271576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connecting buyer discovery, an AI-powered AgentOS, admin verification (QC), and owner-level analytics.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22960" y="3392424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24128" y="3575304"/>
            <a:ext cx="530352" cy="53035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C:\Users\Arvind Govindasamy\AppData\Local\Temp\claude\c--Users-Arvind-Govindasamy-Documents-New-project\04443274-4b6e-4c6c-ada9-d7d945b6d176\scratchpad\pitch-deck\icons\coin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74" y="3644250"/>
            <a:ext cx="392460" cy="392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4838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91640" y="377647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agent subscriptions (RM29–RM99/month) plus pay-per-use auction slots, billed through Stripe.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217920" y="3392424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575304"/>
            <a:ext cx="530352" cy="53035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C:\Users\Arvind Govindasamy\AppData\Local\Temp\claude\c--Users-Arvind-Govindasamy-Documents-New-project\04443274-4b6e-4c6c-ada9-d7d945b6d176\scratchpad\pitch-deck\icons\chartB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034" y="3644250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4838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86600" y="377647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recorded RM241.9B in property transactions in 2025 (NAPIC) — a large, still-fragmented market to structure.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822960" y="4453128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128" y="4636008"/>
            <a:ext cx="530352" cy="53035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6" name="Image 4" descr="C:\Users\Arvind Govindasamy\AppData\Local\Temp\claude\c--Users-Arvind-Govindasamy-Documents-New-project\04443274-4b6e-4c6c-ada9-d7d945b6d176\scratchpad\pitch-deck\icons\fla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074" y="4704954"/>
            <a:ext cx="392460" cy="392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544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91640" y="483717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across 4 surfaces; a founding-cohort mechanic and a public First-RM1M GMV milestone counter are shipped.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6217920" y="4453128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4636008"/>
            <a:ext cx="530352" cy="53035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1" name="Image 5" descr="C:\Users\Arvind Govindasamy\AppData\Local\Temp\claude\c--Users-Arvind-Govindasamy-Documents-New-project\04443274-4b6e-4c6c-ada9-d7d945b6d176\scratchpad\pitch-deck\icons\briefcas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034" y="4704954"/>
            <a:ext cx="392460" cy="392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5445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86600" y="483717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competition backing, or a business-side co-founder to scale distribution — terms open for discussion.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cost is hidden — and it's paid by every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and buyer, every 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310128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898648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sen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269" y="297234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65760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supply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15568" y="4343400"/>
            <a:ext cx="2724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live in chat threads, not a structured database — every agent re-types the same details across portals.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25696" y="2606040"/>
            <a:ext cx="3310128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18304" y="2898648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1" name="Image 1" descr="C:\Users\Arvind Govindasamy\AppData\Local\Temp\claude\c--Users-Arvind-Govindasamy-Documents-New-project\04443274-4b6e-4c6c-ada9-d7d945b6d176\scratchpad\pitch-deck\icons\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005" y="297234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8304" y="365760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Directory-era discovery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18304" y="4343400"/>
            <a:ext cx="2724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filter manually instead of being matched by intent, budget, and location fit — high effort, low conversion.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28432" y="2606040"/>
            <a:ext cx="3310128" cy="3063240"/>
          </a:xfrm>
          <a:prstGeom prst="roundRect">
            <a:avLst>
              <a:gd name="adj" fmla="val 35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898648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6" name="Image 2" descr="C:\Users\Arvind Govindasamy\AppData\Local\Temp\claude\c--Users-Arvind-Govindasamy-Documents-New-project\04443274-4b6e-4c6c-ada9-d7d945b6d176\scratchpad\pitch-deck\icons\sca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41" y="297234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65760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vs. speed trade-off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21040" y="4343400"/>
            <a:ext cx="2724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need verification before supply goes live; agents need speed. Most platforms pick one, not both.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RM241.9 billion property market, still run on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threads and spreadsheets.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9692640" cy="96012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41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715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RM241.9B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383280" y="2459736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Malaysia property transaction value, 2025 (all sectors, 416,413 transactions)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94560" y="3493008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602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38770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RM108.3B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362102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transaction value, 2025 — the segment closest to RealityGenius's buyer/agent workflow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4654296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47640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50383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0" y="478231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model: agent subscriptions × active-agent capture rate (see Financial Model) — not a third-party estimate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95274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NAPIC Property Market Report 2025. SOM is an internal modeling assumption pending primary agent-acquisition data — see slide 11.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Product Snapshot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connected surfaces on one structured data layer.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810512" y="228600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213" y="235970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App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scoring, AR/360 tours, live auctions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84448" y="201168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28600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1" name="Image 1" descr="C:\Users\Arvind Govindasamy\AppData\Local\Temp\claude\c--Users-Arvind-Govindasamy-Documents-New-project\04443274-4b6e-4c6c-ada9-d7d945b6d176\scratchpad\pitch-deck\icons\briefc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701" y="235970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67328" y="342900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listing creator, leads, content, viewing prep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45936" y="201168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15" name="Shape 11"/>
          <p:cNvSpPr/>
          <p:nvPr/>
        </p:nvSpPr>
        <p:spPr>
          <a:xfrm>
            <a:off x="7333488" y="228600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6" name="Image 2" descr="C:\Users\Arvind Govindasamy\AppData\Local\Temp\claude\c--Users-Arvind-Govindasamy-Documents-New-project\04443274-4b6e-4c6c-ada9-d7d945b6d176\scratchpad\pitch-deck\icons\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189" y="235970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QC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28816" y="342900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queue for agents, listings, reports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07424" y="201168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94976" y="228600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3" descr="C:\Users\Arvind Govindasamy\AppData\Local\Temp\claude\c--Users-Arvind-Govindasamy-Documents-New-project\04443274-4b6e-4c6c-ada9-d7d945b6d176\scratchpad\pitch-deck\icons\chartPi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677" y="235970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017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Console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90304" y="342900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GMV, plan mix, platform-wide risk controls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22960" y="4663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walkthrough available as a companion deck — this overview focuses on the business case.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22960" y="53492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5349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3204972" y="53492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3337560" y="53492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337560" y="5349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Structures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719572" y="53492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852160" y="53492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852160" y="5349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Admin Verifies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234172" y="5349240"/>
            <a:ext cx="128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8366760" y="534924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366760" y="5349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Buyer Discovers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agent subscriptions, plus usage-based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auction revenue.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310128" cy="3383280"/>
          </a:xfrm>
          <a:prstGeom prst="roundRect">
            <a:avLst>
              <a:gd name="adj" fmla="val 33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606040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coin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848" y="2672608"/>
            <a:ext cx="378927" cy="3789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32888" y="266090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32888" y="266090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97280" y="329184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SaaS Subscriptions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97280" y="393192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RM29 · Pro RM59 · Elite RM99 per month — feature-gated by AI content tools, document vault, and auction slots.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25696" y="2331720"/>
            <a:ext cx="3310128" cy="3383280"/>
          </a:xfrm>
          <a:prstGeom prst="roundRect">
            <a:avLst>
              <a:gd name="adj" fmla="val 33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0016" y="2606040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3" name="Image 1" descr="C:\Users\Arvind Govindasamy\AppData\Local\Temp\claude\c--Users-Arvind-Govindasamy-Documents-New-project\04443274-4b6e-4c6c-ada9-d7d945b6d176\scratchpad\pitch-deck\icons\gave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584" y="2672608"/>
            <a:ext cx="378927" cy="37892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35624" y="266090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35624" y="266090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700016" y="329184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Auction Slot Add-Ons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700016" y="393192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RM49 per extra Friday Auction Night submission beyond an agent's monthly plan allowance.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28432" y="2331720"/>
            <a:ext cx="3310128" cy="3383280"/>
          </a:xfrm>
          <a:prstGeom prst="roundRect">
            <a:avLst>
              <a:gd name="adj" fmla="val 33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02752" y="2606040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0" name="Image 2" descr="C:\Users\Arvind Govindasamy\AppData\Local\Temp\claude\c--Users-Arvind-Govindasamy-Documents-New-project\04443274-4b6e-4c6c-ada9-d7d945b6d176\scratchpad\pitch-deck\icons\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320" y="2672608"/>
            <a:ext cx="378927" cy="37892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738360" y="266090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738360" y="266090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stream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302752" y="3291840"/>
            <a:ext cx="27614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Co-Broke &amp; Referral Network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302752" y="393192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transaction-linked referral fees as agents refer buyers across each other's listings.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around the ARPU an agent already earns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closed deal.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~RM62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across Starter / Pro / Elite list prices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47872" y="23317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30752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30752" y="2788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(SaaS)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30752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delivery cost is low; main cost is admin QC labor + AI/API usage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23317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55664" y="2788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validate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5664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acquisition spend yet — founder-cohort growth is organic/referral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97696" y="233172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0576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80576" y="2788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validate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0576" y="3337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channel once paid acquisition begins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486"/>
            </a:avLst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461772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0" descr="C:\Users\Arvind Govindasamy\AppData\Local\Temp\claude\c--Users-Arvind-Govindasamy-Documents-New-project\04443274-4b6e-4c6c-ada9-d7d945b6d176\scratchpad\pitch-deck\icons\scale_0F17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848" y="4684288"/>
            <a:ext cx="378927" cy="3789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828800" y="46451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need to validate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828800" y="502920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CAC and payback period require a live paid-acquisition test. The founder-cohort mechanic (first 10 agents, free contingent on 10 listings) is deliberately designed as a zero-CAC seeding strategy while these numbers are established.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real supply first, then convert to paid growth.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233172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2416" y="2651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C:\Users\Arvind Govindasamy\AppData\Local\Temp\claude\c--Users-Arvind-Govindasamy-Documents-New-project\04443274-4b6e-4c6c-ada9-d7d945b6d176\scratchpad\pitch-deck\icons\rocket_0596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27111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3246120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Agent Cohort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24128" y="388620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agents get every feature free, contingent on 10 verified listings each — zero CAC, real inventory from day one.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47872" y="21488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49040" y="233172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PROVE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67328" y="26517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C:\Users\Arvind Govindasamy\AppData\Local\Temp\claude\c--Users-Arvind-Govindasamy-Documents-New-project\04443274-4b6e-4c6c-ada9-d7d945b6d176\scratchpad\pitch-deck\icons\trend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4" y="271119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46120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GMV Milestone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749040" y="388620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First-RM1M counter on the homepage and agent dashboard builds trust and urgency for both sides of the marketplace.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72784" y="21488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73952" y="233172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MONETIZE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2" descr="C:\Users\Arvind Govindasamy\AppData\Local\Temp\claude\c--Users-Arvind-Govindasamy-Documents-New-project\04443274-4b6e-4c6c-ada9-d7d945b6d176\scratchpad\pitch-deck\icons\coin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71119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246120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Agent Growth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73952" y="388620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Pro / Elite subscriptions scale beyond the founding cohort, billed automatically via Stripe.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97696" y="2148840"/>
            <a:ext cx="2468880" cy="3246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98864" y="233172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COMPOUND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217152" y="26517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3" descr="C:\Users\Arvind Govindasamy\AppData\Local\Temp\claude\c--Users-Arvind-Govindasamy-Documents-New-project\04443274-4b6e-4c6c-ada9-d7d945b6d176\scratchpad\pitch-deck\icons\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588" y="271119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98864" y="3246120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Co-Broke Network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198864" y="388620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autopilot and team features turn agents into a distribution layer for each other, lowering future CAC.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 between listing directories and</a:t>
            </a:r>
            <a:endParaRPr lang="en-US" sz="26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chat-based sales.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835640" cy="3154680"/>
          </a:xfrm>
          <a:prstGeom prst="roundRect">
            <a:avLst>
              <a:gd name="adj" fmla="val 289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22037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Portals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(PropertyGuru, iProperty)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29400" y="22037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Chat Sales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(WhatsApp / Telegram)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0" y="22037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listing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788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788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2788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content &amp; matching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794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(QC)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37947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7947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37947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tools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800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auction / urgency mechanic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800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4800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8006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5486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PropertyGuru holds ~63% of Malaysia's property-portal market share (PropertyGuru Group). None of today's leading portals run AI-assisted matching, admin QC verification, or a live-auction mechanic.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product with real growth mechanics already shipped.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48840"/>
            <a:ext cx="530352" cy="530352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briefc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074" y="221778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live product surfaces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235000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app, AgentOS, Admin QC console, and Owner analytics — all shipped and in production.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2148840"/>
            <a:ext cx="530352" cy="530352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1" name="Image 1" descr="C:\Users\Arvind Govindasamy\AppData\Local\Temp\claude\c--Users-Arvind-Govindasamy-Documents-New-project\04443274-4b6e-4c6c-ada9-d7d945b6d176\scratchpad\pitch-deck\icons\coin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034" y="2217786"/>
            <a:ext cx="392460" cy="392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 billing integrated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86600" y="235000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agent subscription checkout is live end-to-end, from signup to feature unlock.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" y="3026664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24128" y="3209544"/>
            <a:ext cx="530352" cy="530352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6" name="Image 2" descr="C:\Users\Arvind Govindasamy\AppData\Local\Temp\claude\c--Users-Arvind-Govindasamy-Documents-New-project\04443274-4b6e-4c6c-ada9-d7d945b6d176\scratchpad\pitch-deck\icons\rock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74" y="3278490"/>
            <a:ext cx="392460" cy="392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1181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Agent Promo shipped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691640" y="341071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First-10-agent free-access mechanic is live, tested end-to-end, and correctly cuts off at agent #11.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3026664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209544"/>
            <a:ext cx="530352" cy="530352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3" descr="C:\Users\Arvind Govindasamy\AppData\Local\Temp\claude\c--Users-Arvind-Govindasamy-Documents-New-project\04443274-4b6e-4c6c-ada9-d7d945b6d176\scratchpad\pitch-deck\icons\trend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034" y="3278490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1181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RM1M Challenge live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86600" y="341071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GMV counter is deployed on the homepage, master dashboard, and agent dashboard.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22960" y="4087368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128" y="4270248"/>
            <a:ext cx="530352" cy="530352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6" name="Image 4" descr="C:\Users\Arvind Govindasamy\AppData\Local\Temp\claude\c--Users-Arvind-Govindasamy-Documents-New-project\04443274-4b6e-4c6c-ada9-d7d945b6d176\scratchpad\pitch-deck\icons\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074" y="4339194"/>
            <a:ext cx="392460" cy="392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178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QC pipeline operational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691640" y="447141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Duplicate-identity, price-anomaly, and image-quality checks run before any listing reaches buyers.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4087368"/>
            <a:ext cx="5074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4270248"/>
            <a:ext cx="530352" cy="530352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1" name="Image 5" descr="C:\Users\Arvind Govindasamy\AppData\Local\Temp\claude\c--Users-Arvind-Govindasamy-Documents-New-project\04443274-4b6e-4c6c-ada9-d7d945b6d176\scratchpad\pitch-deck\icons\puzz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034" y="4339194"/>
            <a:ext cx="392460" cy="392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178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content &amp; import tooling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86600" y="447141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Listing Creator and Telegram-based listing import are both functional in the agent workspace.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illustrative 3-year model — built to be replaced</a:t>
            </a:r>
            <a:endParaRPr lang="en-US" sz="2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real cohort data.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2148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2148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blended ARPU ~RM62/month, agent counts are an illustrative growth scenario (not a market forecast), and 0% CAC modeled in Year 1 via the founder-cohort mechanic. To be replaced with real cohort retention and CAC data as it becomes available.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risks, and how the product already answers them.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6712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alert_0F17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054" y="2217054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211226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acquisition without paid marketing budget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097280" y="2715768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807208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Agent Promo removes the first 10 agents' CAC entirely, seeding real listings before any paid spend.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19088" y="216712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C:\Users\Arvind Govindasamy\AppData\Local\Temp\claude\c--Users-Arvind-Govindasamy-Documents-New-project\04443274-4b6e-4c6c-ada9-d7d945b6d176\scratchpad\pitch-deck\icons\alert_0F17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014" y="2217054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31152" y="211226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Two-sided marketplace cold-start (no buyers without listings, no agents without buyers)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92240" y="2715768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2807208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pipeline + First RM1M counter builds visible, verifiable supply before a big buyer-acquisition push.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22960" y="3584448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24128" y="378561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C:\Users\Arvind Govindasamy\AppData\Local\Temp\claude\c--Users-Arvind-Govindasamy-Documents-New-project\04443274-4b6e-4c6c-ada9-d7d945b6d176\scratchpad\pitch-deck\icons\alert_0F17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054" y="3835542"/>
            <a:ext cx="284196" cy="2841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37307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— fake listings or unverified agents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1097280" y="4334256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97280" y="442569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and listing passes admin QC (duplicate identity, price anomaly, image checks) before going live.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17920" y="3584448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9088" y="378561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3" descr="C:\Users\Arvind Govindasamy\AppData\Local\Temp\claude\c--Users-Arvind-Govindasamy-Documents-New-project\04443274-4b6e-4c6c-ada9-d7d945b6d176\scratchpad\pitch-deck\icons\alert_0F172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014" y="3835542"/>
            <a:ext cx="284196" cy="2841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31152" y="37307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Incumbent portals (PropertyGuru) have distribution scale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92240" y="4334256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92240" y="442569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 is not competing on portal traffic — it competes on structuring the supply incumbents don't touch.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product-led founder team, hiring for the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side.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120640" cy="384048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46888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briefc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323" y="25402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97280" y="3200400"/>
            <a:ext cx="256032" cy="256032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9" name="Image 1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64" y="3233684"/>
            <a:ext cx="189464" cy="189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12724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engineering: built and shipped all 4 platform surfaces, live QC pipeline, and Stripe billing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1097280" y="4069080"/>
            <a:ext cx="256032" cy="256032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12" name="Image 2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64" y="4102364"/>
            <a:ext cx="189464" cy="189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9959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discipline: admin verification workflow, gamified agent engagement, and a founder-cohort growth mechanic already running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63640" y="2194560"/>
            <a:ext cx="5120640" cy="3840480"/>
          </a:xfrm>
          <a:prstGeom prst="roundRect">
            <a:avLst>
              <a:gd name="adj" fmla="val 3333"/>
            </a:avLst>
          </a:prstGeom>
          <a:solidFill>
            <a:srgbClr val="059669"/>
          </a:solidFill>
          <a:ln/>
        </p:spPr>
      </p:sp>
      <p:sp>
        <p:nvSpPr>
          <p:cNvPr id="15" name="Shape 10"/>
          <p:cNvSpPr/>
          <p:nvPr/>
        </p:nvSpPr>
        <p:spPr>
          <a:xfrm>
            <a:off x="6583680" y="2468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C:\Users\Arvind Govindasamy\AppData\Local\Temp\claude\c--Users-Arvind-Govindasamy-Documents-New-project\04443274-4b6e-4c6c-ada9-d7d945b6d176\scratchpad\pitch-deck\icons\puzzle_05966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2540203"/>
            <a:ext cx="405994" cy="4059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948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looking for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6537960" y="320040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C:\Users\Arvind Govindasamy\AppData\Local\Temp\claude\c--Users-Arvind-Govindasamy-Documents-New-project\04443274-4b6e-4c6c-ada9-d7d945b6d176\scratchpad\pitch-deck\icons\check_05966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867" y="3231307"/>
            <a:ext cx="175931" cy="17593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03720" y="3145536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business-side co-founder or early hire: go-to-market, agent sales, and partnerships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537960" y="397764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C:\Users\Arvind Govindasamy\AppData\Local\Temp\claude\c--Users-Arvind-Govindasamy-Documents-New-project\04443274-4b6e-4c6c-ada9-d7d945b6d176\scratchpad\pitch-deck\icons\check_05966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867" y="4008547"/>
            <a:ext cx="175931" cy="17593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03720" y="3922776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and operator experience to turn the illustrative model into validated unit economics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537960" y="475488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C:\Users\Arvind Govindasamy\AppData\Local\Temp\claude\c--Users-Arvind-Govindasamy-Documents-New-project\04443274-4b6e-4c6c-ada9-d7d945b6d176\scratchpad\pitch-deck\icons\check_05966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867" y="4785787"/>
            <a:ext cx="175931" cy="17593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03720" y="4700016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equity, and compensation are open for discussion based on fit and contribution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011680"/>
            <a:ext cx="5943600" cy="5943600"/>
          </a:xfrm>
          <a:prstGeom prst="ellipse">
            <a:avLst/>
          </a:prstGeom>
          <a:solidFill>
            <a:srgbClr val="059669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deck, three conversations.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310128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69748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7" name="Image 0" descr="C:\Users\Arvind Govindasamy\AppData\Local\Temp\claude\c--Users-Arvind-Govindasamy-Documents-New-project\04443274-4b6e-4c6c-ada9-d7d945b6d176\scratchpad\pitch-deck\icons\coin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81" y="277118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29000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investors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3886200"/>
            <a:ext cx="27614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to convert the illustrative model on slide 11 into validated unit economics — funding paid agent acquisition and go-to-market hires.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25696" y="2423160"/>
            <a:ext cx="3310128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0016" y="269748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2" name="Image 1" descr="C:\Users\Arvind Govindasamy\AppData\Local\Temp\claude\c--Users-Arvind-Govindasamy-Documents-New-project\04443274-4b6e-4c6c-ada9-d7d945b6d176\scratchpad\pitch-deck\icons\fl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717" y="277118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016" y="3429000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competitions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0016" y="3886200"/>
            <a:ext cx="27614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full business case: real problem, live product, shipped growth mechanics, and named risks with mitigations already in motion.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28432" y="2423160"/>
            <a:ext cx="3310128" cy="301752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269748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7" name="Image 2" descr="C:\Users\Arvind Govindasamy\AppData\Local\Temp\claude\c--Users-Arvind-Govindasamy-Documents-New-project\04443274-4b6e-4c6c-ada9-d7d945b6d176\scratchpad\pitch-deck\icons\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453" y="277118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3429000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co-founder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02752" y="3886200"/>
            <a:ext cx="27614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product that's already live. We need a business-side partner to own go-to-market, agent sales, and fundraising — role and equity open for discussion.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  ·  Let's talk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185855" y="6473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2026-07-23T08:34:58Z</dcterms:created>
  <dcterms:modified xsi:type="dcterms:W3CDTF">2026-07-23T08:34:58Z</dcterms:modified>
</cp:coreProperties>
</file>