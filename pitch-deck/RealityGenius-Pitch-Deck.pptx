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image" Target="../media/image-7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6.png"/><Relationship Id="rId8" Type="http://schemas.openxmlformats.org/officeDocument/2006/relationships/image" Target="../media/image-8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3840480"/>
            <a:ext cx="5486400" cy="54864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686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68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36192" y="896112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Malaysia's AI Property</a:t>
            </a:r>
            <a:endParaRPr lang="en-US" sz="5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Platform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buyers, agents, and admins on one AI-structured pipeline—from a raw listing to a verified, matched, closed home.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5349240"/>
            <a:ext cx="1869034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349240"/>
            <a:ext cx="186903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Listing Creator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38882" y="5349240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8882" y="5349240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Import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40250" y="5349240"/>
            <a:ext cx="972922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0250" y="5349240"/>
            <a:ext cx="97292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QC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14339" y="5349240"/>
            <a:ext cx="2048256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4339" y="5349240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Auction Night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supply is unstructured, and buyer discovery still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feels like a directory.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697480"/>
            <a:ext cx="331012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990088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C:\Users\Arvind Govindasamy\AppData\Local\Temp\claude\c--Users-Arvind-Govindasamy-Documents-New-project\04443274-4b6e-4c6c-ada9-d7d945b6d176\scratchpad\pitch-deck\icons\sen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269" y="306378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3749040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Listings live in chat threads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15568" y="4434840"/>
            <a:ext cx="2724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prices, and details are scattered across WhatsApp and Telegram instead of one structured record.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25696" y="2697480"/>
            <a:ext cx="331012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18304" y="2990088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1" descr="C:\Users\Arvind Govindasamy\AppData\Local\Temp\claude\c--Users-Arvind-Govindasamy-Documents-New-project\04443274-4b6e-4c6c-ada9-d7d945b6d176\scratchpad\pitch-deck\icons\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005" y="3063789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18304" y="3749040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 search, they don't get matched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18304" y="4434840"/>
            <a:ext cx="2724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portals are still a directory — buyers manually filter instead of being understood by intent, budget, and location fit.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28432" y="2697480"/>
            <a:ext cx="331012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990088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6" name="Image 2" descr="C:\Users\Arvind Govindasamy\AppData\Local\Temp\claude\c--Users-Arvind-Govindasamy-Documents-New-project\04443274-4b6e-4c6c-ada9-d7d945b6d176\scratchpad\pitch-deck\icons\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741" y="3063789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749040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and speed are in tension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21040" y="4434840"/>
            <a:ext cx="2724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need verification before supply goes live, but slow manual review frustrates agents who need speed.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property operating platform — not another listing site.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 connects four surfaces on the same structured data, so supply moves from raw submission to verified, buyer-ready listing without leaving the platform.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2542032" cy="2880360"/>
          </a:xfrm>
          <a:prstGeom prst="roundRect">
            <a:avLst>
              <a:gd name="adj" fmla="val 43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319125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7" name="Image 0" descr="C:\Users\Arvind Govindasamy\AppData\Local\Temp\claude\c--Users-Arvind-Govindasamy-Documents-New-project\04443274-4b6e-4c6c-ada9-d7d945b6d176\scratchpad\pitch-deck\icons\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4213" y="3264957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395935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 App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42416" y="4453128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 scoring, saved alerts, AR tours, live auctions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84448" y="2880360"/>
            <a:ext cx="2542032" cy="2880360"/>
          </a:xfrm>
          <a:prstGeom prst="roundRect">
            <a:avLst>
              <a:gd name="adj" fmla="val 43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19125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2" name="Image 1" descr="C:\Users\Arvind Govindasamy\AppData\Local\Temp\claude\c--Users-Arvind-Govindasamy-Documents-New-project\04443274-4b6e-4c6c-ada9-d7d945b6d176\scratchpad\pitch-deck\icons\dashbo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701" y="3264957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395935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AgentOS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803904" y="4453128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creator, leads, AI content, viewing prep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45936" y="2880360"/>
            <a:ext cx="2542032" cy="2880360"/>
          </a:xfrm>
          <a:prstGeom prst="roundRect">
            <a:avLst>
              <a:gd name="adj" fmla="val 43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33488" y="319125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7" name="Image 2" descr="C:\Users\Arvind Govindasamy\AppData\Local\Temp\claude\c--Users-Arvind-Govindasamy-Documents-New-project\04443274-4b6e-4c6c-ada9-d7d945b6d176\scratchpad\pitch-deck\icons\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189" y="3264957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0528" y="395935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QC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65392" y="4453128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queue for agents, listings, and reports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07424" y="2880360"/>
            <a:ext cx="2542032" cy="2880360"/>
          </a:xfrm>
          <a:prstGeom prst="roundRect">
            <a:avLst>
              <a:gd name="adj" fmla="val 43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094976" y="319125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2" name="Image 3" descr="C:\Users\Arvind Govindasamy\AppData\Local\Temp\claude\c--Users-Arvind-Govindasamy-Documents-New-project\04443274-4b6e-4c6c-ada9-d7d945b6d176\scratchpad\pitch-deck\icons\troph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677" y="3264957"/>
            <a:ext cx="419527" cy="41952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959352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Console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26880" y="4453128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GMV, plan mix, and platform-wide risk controls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— AgentOS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command layer built for agents who move fast.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86000"/>
            <a:ext cx="512064" cy="51206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C:\Users\Arvind Govindasamy\AppData\Local\Temp\claude\c--Users-Arvind-Govindasamy-Documents-New-project\04443274-4b6e-4c6c-ada9-d7d945b6d176\scratchpad\pitch-deck\icons\wan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848" y="2352568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3113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Listing Creator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96896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photos or paste raw details — AI writes the title, description, SEO keywords, and WhatsApp copy in one pass.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201168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286000"/>
            <a:ext cx="512064" cy="51206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1" descr="C:\Users\Arvind Govindasamy\AppData\Local\Temp\claude\c--Users-Arvind-Govindasamy-Documents-New-project\04443274-4b6e-4c6c-ada9-d7d945b6d176\scratchpad\pitch-deck\icons\sen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808" y="2352568"/>
            <a:ext cx="378927" cy="378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23113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 AI Import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178040" y="2596896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send listings straight from Telegram. AI extracts price, area, rooms, and photos automatically.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388620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97280" y="4160520"/>
            <a:ext cx="512064" cy="51206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6" name="Image 2" descr="C:\Users\Arvind Govindasamy\AppData\Local\Temp\claude\c--Users-Arvind-Govindasamy-Documents-New-project\04443274-4b6e-4c6c-ada9-d7d945b6d176\scratchpad\pitch-deck\icons\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848" y="4227088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10565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QC Pipeline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83080" y="4471416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is screened for duplicate identity, price anomalies, and image quality before going live.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160520"/>
            <a:ext cx="512064" cy="51206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3" descr="C:\Users\Arvind Govindasamy\AppData\Local\Temp\claude\c--Users-Arvind-Govindasamy-Documents-New-project\04443274-4b6e-4c6c-ada9-d7d945b6d176\scratchpad\pitch-deck\icons\troph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808" y="4227088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10565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Gamified Engagement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178040" y="4471416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check-ins, streaks, and points reward dedicated agents with frontline placement in the buyer feed.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— Buyer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that understands intent, not just filters.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12064" cy="512064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5" name="Image 0" descr="C:\Users\Arvind Govindasamy\AppData\Local\Temp\claude\c--Users-Arvind-Govindasamy-Documents-New-project\04443274-4b6e-4c6c-ada9-d7d945b6d176\scratchpad\pitch-deck\icons\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528" y="2123968"/>
            <a:ext cx="378927" cy="3789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6192" y="2029968"/>
            <a:ext cx="5230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Match Scoring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536192" y="2395728"/>
            <a:ext cx="5230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property is ranked against a buyer's saved intent, budget, and location fit — not just keyword search.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" y="3081528"/>
            <a:ext cx="512064" cy="512064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9" name="Image 1" descr="C:\Users\Arvind Govindasamy\AppData\Local\Temp\claude\c--Users-Arvind-Govindasamy-Documents-New-project\04443274-4b6e-4c6c-ada9-d7d945b6d176\scratchpad\pitch-deck\icons\sparkle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28" y="3148096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36192" y="3054096"/>
            <a:ext cx="5230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 &amp; 360° Immersive Tours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536192" y="3419856"/>
            <a:ext cx="5230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upload panorama photos; buyers explore rooms before ever booking a physical viewing.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4105656"/>
            <a:ext cx="512064" cy="512064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3" name="Image 2" descr="C:\Users\Arvind Govindasamy\AppData\Local\Temp\claude\c--Users-Arvind-Govindasamy-Documents-New-project\04443274-4b6e-4c6c-ada9-d7d945b6d176\scratchpad\pitch-deck\icons\gave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28" y="4172224"/>
            <a:ext cx="378927" cy="3789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36192" y="4078224"/>
            <a:ext cx="5230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Friday Auction Night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536192" y="4443984"/>
            <a:ext cx="5230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homes become live weekly offer events, with safe non-binding “highest offer” wording throughout.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22960" y="5129784"/>
            <a:ext cx="512064" cy="512064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7" name="Image 3" descr="C:\Users\Arvind Govindasamy\AppData\Local\Temp\claude\c--Users-Arvind-Govindasamy-Documents-New-project\04443274-4b6e-4c6c-ada9-d7d945b6d176\scratchpad\pitch-deck\icons\badge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528" y="5196352"/>
            <a:ext cx="378927" cy="3789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36192" y="5102352"/>
            <a:ext cx="5230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Verified-Only Feed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536192" y="5468112"/>
            <a:ext cx="5230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admin-approved, agent-uploaded listings reach the public feed — no unverified scraped inventory.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178040" y="2011680"/>
            <a:ext cx="4160520" cy="4114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03200" dist="50800" dir="5400000">
              <a:srgbClr val="0F172A">
                <a:alpha val="18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45236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96% Match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452360" y="278892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</p:spPr>
      </p:sp>
      <p:sp>
        <p:nvSpPr>
          <p:cNvPr id="23" name="Shape 17"/>
          <p:cNvSpPr/>
          <p:nvPr/>
        </p:nvSpPr>
        <p:spPr>
          <a:xfrm>
            <a:off x="8938260" y="338328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4" name="Image 4" descr="C:\Users\Arvind Govindasamy\AppData\Local\Temp\claude\c--Users-Arvind-Govindasamy-Documents-New-project\04443274-4b6e-4c6c-ada9-d7d945b6d176\scratchpad\pitch-deck\icons\sparkle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1470" y="3466490"/>
            <a:ext cx="473659" cy="47365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52360" y="47091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KLCC Luxury Condo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7452360" y="50749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850,000  ·  3 bed  ·  1,180 sqft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7452360" y="553212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8" name="Text 21"/>
          <p:cNvSpPr/>
          <p:nvPr/>
        </p:nvSpPr>
        <p:spPr>
          <a:xfrm>
            <a:off x="7452360" y="553212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Tour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9189720" y="553212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0" name="Text 23"/>
          <p:cNvSpPr/>
          <p:nvPr/>
        </p:nvSpPr>
        <p:spPr>
          <a:xfrm>
            <a:off x="9189720" y="553212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Verified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messy submission to a buyer-ready listing.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42416" y="2514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78992" y="320040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7" name="Image 0" descr="C:\Users\Arvind Govindasamy\AppData\Local\Temp\claude\c--Users-Arvind-Govindasamy-Documents-New-project\04443274-4b6e-4c6c-ada9-d7d945b6d176\scratchpad\pitch-deck\icons\uplo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693" y="3274101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959352"/>
            <a:ext cx="1956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Listing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78992" y="4617720"/>
            <a:ext cx="19568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submits manually, via Excel bulk import, or straight from a Telegram chat.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10128" y="37033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47872" y="233172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67328" y="2514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3803904" y="320040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4" name="Image 1" descr="C:\Users\Arvind Govindasamy\AppData\Local\Temp\claude\c--Users-Arvind-Govindasamy-Documents-New-project\04443274-4b6e-4c6c-ada9-d7d945b6d176\scratchpad\pitch-deck\icons\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605" y="3274101"/>
            <a:ext cx="419527" cy="4195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03904" y="3959352"/>
            <a:ext cx="1956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Structures Data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803904" y="4617720"/>
            <a:ext cx="19568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price, area, rooms, photos, captions, and flags missing fields for the agent.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035040" y="37033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272784" y="233172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492240" y="2514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6528816" y="320040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2" descr="C:\Users\Arvind Govindasamy\AppData\Local\Temp\claude\c--Users-Arvind-Govindasamy-Documents-New-project\04443274-4b6e-4c6c-ada9-d7d945b6d176\scratchpad\pitch-deck\icons\badge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517" y="3274101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28816" y="3959352"/>
            <a:ext cx="1956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Verifies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528816" y="4617720"/>
            <a:ext cx="19568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identity, price anomaly, and image quality checks run before anything goes live.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759952" y="37033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8997696" y="233172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217152" y="2514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22"/>
          <p:cNvSpPr/>
          <p:nvPr/>
        </p:nvSpPr>
        <p:spPr>
          <a:xfrm>
            <a:off x="9253728" y="3200400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8" name="Image 3" descr="C:\Users\Arvind Govindasamy\AppData\Local\Temp\claude\c--Users-Arvind-Govindasamy-Documents-New-project\04443274-4b6e-4c6c-ada9-d7d945b6d176\scratchpad\pitch-deck\icons\searc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429" y="3274101"/>
            <a:ext cx="419527" cy="41952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53728" y="3959352"/>
            <a:ext cx="1956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 Discovers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9253728" y="4617720"/>
            <a:ext cx="19568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listings appear with AI match scoring, saved alerts, and direct agent contact.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subscriptions, priced for daily-active tools.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17320" y="1965960"/>
            <a:ext cx="3246120" cy="4114800"/>
          </a:xfrm>
          <a:prstGeom prst="roundRect">
            <a:avLst>
              <a:gd name="adj" fmla="val 394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225856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 RG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91640" y="26791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RM29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/month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691640" y="3474720"/>
            <a:ext cx="274320" cy="27432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8" name="Image 0" descr="C:\Users\Arvind Govindasamy\AppData\Local\Temp\claude\c--Users-Arvind-Govindasamy-Documents-New-project\04443274-4b6e-4c6c-ada9-d7d945b6d176\scratchpad\pitch-deck\icons\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302" y="3510382"/>
            <a:ext cx="202997" cy="2029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75688" y="34198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+ Excel listing upload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691640" y="3986784"/>
            <a:ext cx="274320" cy="27432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1" name="Image 1" descr="C:\Users\Arvind Govindasamy\AppData\Local\Temp\claude\c--Users-Arvind-Govindasamy-Documents-New-project\04443274-4b6e-4c6c-ada9-d7d945b6d176\scratchpad\pitch-deck\icons\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302" y="4022446"/>
            <a:ext cx="202997" cy="2029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75688" y="393192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buyer lead inbox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691640" y="4498848"/>
            <a:ext cx="274320" cy="27432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4" name="Image 2" descr="C:\Users\Arvind Govindasamy\AppData\Local\Temp\claude\c--Users-Arvind-Govindasamy-Documents-New-project\04443274-4b6e-4c6c-ada9-d7d945b6d176\scratchpad\pitch-deck\icons\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302" y="4534510"/>
            <a:ext cx="202997" cy="20299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75688" y="444398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admin QC queue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937760" y="1801368"/>
            <a:ext cx="3246120" cy="4443984"/>
          </a:xfrm>
          <a:prstGeom prst="roundRect">
            <a:avLst>
              <a:gd name="adj" fmla="val 3944"/>
            </a:avLst>
          </a:prstGeom>
          <a:solidFill>
            <a:srgbClr val="059669"/>
          </a:solidFill>
          <a:ln/>
          <a:effectLst>
            <a:outerShdw sx="100000" sy="100000" kx="0" ky="0" algn="bl" rotWithShape="0" blurRad="228600" dist="50800" dir="5400000">
              <a:srgbClr val="059669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875020" y="15819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8" name="Text 13"/>
          <p:cNvSpPr/>
          <p:nvPr/>
        </p:nvSpPr>
        <p:spPr>
          <a:xfrm>
            <a:off x="5875020" y="15819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212080" y="209397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Agent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5212080" y="25146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RM59</a:t>
            </a:r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/month</a:t>
            </a:r>
            <a:endParaRPr lang="en-US" sz="3400" dirty="0"/>
          </a:p>
        </p:txBody>
      </p:sp>
      <p:sp>
        <p:nvSpPr>
          <p:cNvPr id="21" name="Shape 16"/>
          <p:cNvSpPr/>
          <p:nvPr/>
        </p:nvSpPr>
        <p:spPr>
          <a:xfrm>
            <a:off x="5212080" y="3310128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</p:sp>
      <p:pic>
        <p:nvPicPr>
          <p:cNvPr id="22" name="Image 3" descr="C:\Users\Arvind Govindasamy\AppData\Local\Temp\claude\c--Users-Arvind-Govindasamy-Documents-New-project\04443274-4b6e-4c6c-ada9-d7d945b6d176\scratchpad\pitch-deck\icons\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7742" y="3345790"/>
            <a:ext cx="202997" cy="20299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96128" y="325526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Listing Creator + content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212080" y="3822192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</p:sp>
      <p:pic>
        <p:nvPicPr>
          <p:cNvPr id="25" name="Image 4" descr="C:\Users\Arvind Govindasamy\AppData\Local\Temp\claude\c--Users-Arvind-Govindasamy-Documents-New-project\04443274-4b6e-4c6c-ada9-d7d945b6d176\scratchpad\pitch-deck\icons\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7742" y="3857854"/>
            <a:ext cx="202997" cy="20299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96128" y="376732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vault + DSR calculator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212080" y="4334256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</p:sp>
      <p:pic>
        <p:nvPicPr>
          <p:cNvPr id="28" name="Image 5" descr="C:\Users\Arvind Govindasamy\AppData\Local\Temp\claude\c--Users-Arvind-Govindasamy-Documents-New-project\04443274-4b6e-4c6c-ada9-d7d945b6d176\scratchpad\pitch-deck\icons\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7742" y="4369918"/>
            <a:ext cx="202997" cy="20299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596128" y="4279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Auction Night slot / month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458200" y="1965960"/>
            <a:ext cx="3246120" cy="4114800"/>
          </a:xfrm>
          <a:prstGeom prst="roundRect">
            <a:avLst>
              <a:gd name="adj" fmla="val 394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8732520" y="225856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Elite Agent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8732520" y="26791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RM99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/month</a:t>
            </a:r>
            <a:endParaRPr lang="en-US" sz="3400" dirty="0"/>
          </a:p>
        </p:txBody>
      </p:sp>
      <p:sp>
        <p:nvSpPr>
          <p:cNvPr id="33" name="Shape 25"/>
          <p:cNvSpPr/>
          <p:nvPr/>
        </p:nvSpPr>
        <p:spPr>
          <a:xfrm>
            <a:off x="8732520" y="3474720"/>
            <a:ext cx="274320" cy="27432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34" name="Image 6" descr="C:\Users\Arvind Govindasamy\AppData\Local\Temp\claude\c--Users-Arvind-Govindasamy-Documents-New-project\04443274-4b6e-4c6c-ada9-d7d945b6d176\scratchpad\pitch-deck\icons\check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8182" y="3510382"/>
            <a:ext cx="202997" cy="202997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16568" y="34198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8732520" y="3986784"/>
            <a:ext cx="274320" cy="27432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37" name="Image 7" descr="C:\Users\Arvind Govindasamy\AppData\Local\Temp\claude\c--Users-Arvind-Govindasamy-Documents-New-project\04443274-4b6e-4c6c-ada9-d7d945b6d176\scratchpad\pitch-deck\icons\check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8182" y="4022446"/>
            <a:ext cx="202997" cy="202997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116568" y="393192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Co-broke matchmaker + referrals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8732520" y="4498848"/>
            <a:ext cx="274320" cy="27432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40" name="Image 8" descr="C:\Users\Arvind Govindasamy\AppData\Local\Temp\claude\c--Users-Arvind-Govindasamy-Documents-New-project\04443274-4b6e-4c6c-ada9-d7d945b6d176\scratchpad\pitch-deck\icons\check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8182" y="4534510"/>
            <a:ext cx="202997" cy="202997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9116568" y="444398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Auction Night slots / month</a:t>
            </a:r>
            <a:endParaRPr lang="en-US" sz="1100" dirty="0"/>
          </a:p>
        </p:txBody>
      </p:sp>
      <p:sp>
        <p:nvSpPr>
          <p:cNvPr id="42" name="Text 31"/>
          <p:cNvSpPr/>
          <p:nvPr/>
        </p:nvSpPr>
        <p:spPr>
          <a:xfrm>
            <a:off x="822960" y="6272784"/>
            <a:ext cx="10515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RM49 extra Auction Night slot add-on · all plans billed via Stripe</a:t>
            </a:r>
            <a:endParaRPr lang="en-US" sz="1050" dirty="0"/>
          </a:p>
        </p:txBody>
      </p:sp>
      <p:sp>
        <p:nvSpPr>
          <p:cNvPr id="43" name="Text 32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mechanics built to seed real, verified supply first.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20640" cy="416052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860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C:\Users\Arvind Govindasamy\AppData\Local\Temp\claude\c--Users-Arvind-Govindasamy-Documents-New-project\04443274-4b6e-4c6c-ada9-d7d945b6d176\scratchpad\pitch-deck\icons\rocket_0F17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323" y="23573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31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Agent Promo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30175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10 agents to sign up get every AgentOS feature unlocked for free — contingent on submitting 10 verified listings.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43000" y="393192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1325880" y="4069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/ 10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788920" y="399592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slots claimed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(dashboard shown live)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143000" y="4937760"/>
            <a:ext cx="237744" cy="237744"/>
          </a:xfrm>
          <a:prstGeom prst="ellipse">
            <a:avLst/>
          </a:prstGeom>
          <a:solidFill>
            <a:srgbClr val="047857"/>
          </a:solidFill>
          <a:ln/>
        </p:spPr>
      </p:sp>
      <p:pic>
        <p:nvPicPr>
          <p:cNvPr id="13" name="Image 1" descr="C:\Users\Arvind Govindasamy\AppData\Local\Temp\claude\c--Users-Arvind-Govindasamy-Documents-New-project\04443274-4b6e-4c6c-ada9-d7d945b6d176\scratchpad\pitch-deck\icons\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907" y="4968667"/>
            <a:ext cx="175931" cy="17593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81328" y="4882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the pending-approval queue entirely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143000" y="5321808"/>
            <a:ext cx="237744" cy="237744"/>
          </a:xfrm>
          <a:prstGeom prst="ellipse">
            <a:avLst/>
          </a:prstGeom>
          <a:solidFill>
            <a:srgbClr val="047857"/>
          </a:solidFill>
          <a:ln/>
        </p:spPr>
      </p:sp>
      <p:pic>
        <p:nvPicPr>
          <p:cNvPr id="16" name="Image 2" descr="C:\Users\Arvind Govindasamy\AppData\Local\Temp\claude\c--Users-Arvind-Govindasamy-Documents-New-project\04443274-4b6e-4c6c-ada9-d7d945b6d176\scratchpad\pitch-deck\icons\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907" y="5352715"/>
            <a:ext cx="175931" cy="17593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5266944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unlock: AI content, auctions, referrals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1143000" y="5705856"/>
            <a:ext cx="237744" cy="237744"/>
          </a:xfrm>
          <a:prstGeom prst="ellipse">
            <a:avLst/>
          </a:prstGeom>
          <a:solidFill>
            <a:srgbClr val="047857"/>
          </a:solidFill>
          <a:ln/>
        </p:spPr>
      </p:sp>
      <p:pic>
        <p:nvPicPr>
          <p:cNvPr id="19" name="Image 3" descr="C:\Users\Arvind Govindasamy\AppData\Local\Temp\claude\c--Users-Arvind-Govindasamy-Documents-New-project\04443274-4b6e-4c6c-ada9-d7d945b6d176\scratchpad\pitch-deck\icons\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907" y="5736763"/>
            <a:ext cx="175931" cy="17593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81328" y="565099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straight to the listing creator on signup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63640" y="1965960"/>
            <a:ext cx="512064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83680" y="228600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3" name="Image 4" descr="C:\Users\Arvind Govindasamy\AppData\Local\Temp\claude\c--Users-Arvind-Govindasamy-Documents-New-project\04443274-4b6e-4c6c-ada9-d7d945b6d176\scratchpad\pitch-deck\icons\trending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003" y="2357323"/>
            <a:ext cx="405994" cy="40599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2331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RM1M Challenge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6583680" y="30175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public, live-updating counter tracks total verified listing value toward our first RM1,000,000 — shown on the homepage and every agent dashboard. Mockup below; live number updates automatically.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583680" y="4023360"/>
            <a:ext cx="4480560" cy="20116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7" name="Shape 20"/>
          <p:cNvSpPr/>
          <p:nvPr/>
        </p:nvSpPr>
        <p:spPr>
          <a:xfrm>
            <a:off x="6583680" y="4023360"/>
            <a:ext cx="806501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8" name="Text 21"/>
          <p:cNvSpPr/>
          <p:nvPr/>
        </p:nvSpPr>
        <p:spPr>
          <a:xfrm>
            <a:off x="6583680" y="4343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—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686800" y="4343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RM1,000,000 target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583680" y="5029200"/>
            <a:ext cx="237744" cy="237744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31" name="Image 5" descr="C:\Users\Arvind Govindasamy\AppData\Local\Temp\claude\c--Users-Arvind-Govindasamy-Documents-New-project\04443274-4b6e-4c6c-ada9-d7d945b6d176\scratchpad\pitch-deck\icons\check_05966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587" y="5060107"/>
            <a:ext cx="175931" cy="17593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22008" y="497433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live, admin-approved listing counts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583680" y="5413248"/>
            <a:ext cx="237744" cy="237744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34" name="Image 6" descr="C:\Users\Arvind Govindasamy\AppData\Local\Temp\claude\c--Users-Arvind-Govindasamy-Documents-New-project\04443274-4b6e-4c6c-ada9-d7d945b6d176\scratchpad\pitch-deck\icons\check_05966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87" y="5444155"/>
            <a:ext cx="175931" cy="17593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922008" y="5358384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trust signal for buyers on day one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6583680" y="5797296"/>
            <a:ext cx="237744" cy="237744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37" name="Image 7" descr="C:\Users\Arvind Govindasamy\AppData\Local\Temp\claude\c--Users-Arvind-Govindasamy-Documents-New-project\04443274-4b6e-4c6c-ada9-d7d945b6d176\scratchpad\pitch-deck\icons\check_059669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587" y="5828203"/>
            <a:ext cx="175931" cy="175931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922008" y="574243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CTA: agents list to move the needle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Airport security for marketplace trust.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touches live supply without a scan. Agents, listings, and buyer reports move through one controlled admin review lane before anything reaches the public feed.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246888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73936" y="28803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7" name="Image 0" descr="C:\Users\Arvind Govindasamy\AppData\Local\Temp\claude\c--Users-Arvind-Govindasamy-Documents-New-project\04443274-4b6e-4c6c-ada9-d7d945b6d176\scratchpad\pitch-deck\icons\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637" y="2954061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657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Verification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24128" y="4206240"/>
            <a:ext cx="206654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 number and IC review with duplicate-identity detection before an agent goes live.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47872" y="2606040"/>
            <a:ext cx="246888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8848" y="28803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2" name="Image 1" descr="C:\Users\Arvind Govindasamy\AppData\Local\Temp\claude\c--Users-Arvind-Govindasamy-Documents-New-project\04443274-4b6e-4c6c-ada9-d7d945b6d176\scratchpad\pitch-deck\icons\badge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549" y="2954061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3657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Listing QC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49040" y="4206240"/>
            <a:ext cx="206654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anomaly, image blur, and duplicate-listing checks run before approval.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72784" y="2606040"/>
            <a:ext cx="246888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23760" y="28803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7" name="Image 2" descr="C:\Users\Arvind Govindasamy\AppData\Local\Temp\claude\c--Users-Arvind-Govindasamy-Documents-New-project\04443274-4b6e-4c6c-ada9-d7d945b6d176\scratchpad\pitch-deck\icons\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461" y="2954061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657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 Reports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06654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Fake-listing and scam reports are triaged with the same urgency as agent onboarding.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997696" y="2606040"/>
            <a:ext cx="246888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48672" y="2880360"/>
            <a:ext cx="566928" cy="566928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2" name="Image 3" descr="C:\Users\Arvind Govindasamy\AppData\Local\Temp\claude\c--Users-Arvind-Govindasamy-Documents-New-project\04443274-4b6e-4c6c-ada9-d7d945b6d176\scratchpad\pitch-deck\icons\ke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373" y="2954061"/>
            <a:ext cx="419527" cy="41952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0576" y="3657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Role-Gated Access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198864" y="4206240"/>
            <a:ext cx="206654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 exactly which accounts unlock buyer, agent, or dual-role login.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Malaysian property supply is fragmented across chat apps —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ripe for an AI structuring layer.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5" name="Image 0" descr="C:\Users\Arvind Govindasamy\AppData\Local\Temp\claude\c--Users-Arvind-Govindasamy-Documents-New-project\04443274-4b6e-4c6c-ada9-d7d945b6d176\scratchpad\pitch-deck\icons\sen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286262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770632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already work in Telegram &amp; WhatsApp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00200" y="315468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asking agents to change behavior, RealityGenius meets them where listings are already being shared.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3959352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9" name="Image 1" descr="C:\Users\Arvind Govindasamy\AppData\Local\Temp\claude\c--Users-Arvind-Govindasamy-Documents-New-project\04443274-4b6e-4c6c-ada9-d7d945b6d176\scratchpad\pitch-deck\icons\bo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61" y="4033053"/>
            <a:ext cx="419527" cy="419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941064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extraction is finally cheap and reliable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600200" y="4325112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a raw listing into title, price, rooms, and captions is now a one-pass AI workflow, not manual data entry.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5129784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3" name="Image 2" descr="C:\Users\Arvind Govindasamy\AppData\Local\Temp\claude\c--Users-Arvind-Govindasamy-Documents-New-project\04443274-4b6e-4c6c-ada9-d7d945b6d176\scratchpad\pitch-deck\icons\glob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61" y="5203485"/>
            <a:ext cx="419527" cy="4195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5111496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 expect portal-grade discovery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600200" y="5495544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 scoring, AR tours, and live auctions are now consumer expectations, not differentiators — and most local portals still lack them.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founding cohort to a self-sustaining marketplace.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3749040"/>
            <a:ext cx="97840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29434" y="3666744"/>
            <a:ext cx="164592" cy="164592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8740" y="2148840"/>
            <a:ext cx="21259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95044" y="2258568"/>
            <a:ext cx="18333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95044" y="2496312"/>
            <a:ext cx="18333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Founding Cohort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95044" y="2807208"/>
            <a:ext cx="18333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agents onboard free, contingent on 10 listings each, seeding real verified supply.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75454" y="3666744"/>
            <a:ext cx="164592" cy="164592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4069080"/>
            <a:ext cx="21259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41064" y="4178808"/>
            <a:ext cx="18333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41064" y="4416552"/>
            <a:ext cx="18333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RM1,000,000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41064" y="4727448"/>
            <a:ext cx="18333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GMV counter drives urgency; Friday Auction Night builds a recurring buyer habit.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21474" y="3666744"/>
            <a:ext cx="164592" cy="164592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0780" y="2148840"/>
            <a:ext cx="21259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87084" y="2258568"/>
            <a:ext cx="18333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87084" y="2496312"/>
            <a:ext cx="18333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Agent Growth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7084" y="2807208"/>
            <a:ext cx="18333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/ Pro / Elite subscriptions scale beyond the founding cohort via Stripe.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67494" y="3666744"/>
            <a:ext cx="164592" cy="164592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4069080"/>
            <a:ext cx="21259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833104" y="4178808"/>
            <a:ext cx="18333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33104" y="4416552"/>
            <a:ext cx="18333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Co-Broke Network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33104" y="4727448"/>
            <a:ext cx="18333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autopilot and team setup features turn agents into a distribution layer for each other.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011680"/>
            <a:ext cx="5943600" cy="5943600"/>
          </a:xfrm>
          <a:prstGeom prst="ellipse">
            <a:avLst/>
          </a:prstGeom>
          <a:solidFill>
            <a:srgbClr val="059669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It Together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297180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onboarding our founding cohort of agents and inviting partners who want to shape Malaysia's AI property operating layer from day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6" name="Image 0" descr="C:\Users\Arvind Govindasamy\AppData\Local\Temp\claude\c--Users-Arvind-Govindasamy-Documents-New-project\04443274-4b6e-4c6c-ada9-d7d945b6d176\scratchpad\pitch-deck\icons\rock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41742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40965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480560" y="409651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4773168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0" name="Image 1" descr="C:\Users\Arvind Govindasamy\AppData\Local\Temp\claude\c--Users-Arvind-Govindasamy-Documents-New-project\04443274-4b6e-4c6c-ada9-d7d945b6d176\scratchpad\pitch-deck\icons\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4832604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4754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as a founding agent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480560" y="4754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signups — free full features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68680" y="5431536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4" name="Image 2" descr="C:\Users\Arvind Govindasamy\AppData\Local\Temp\claude\c--Users-Arvind-Govindasamy-Documents-New-project\04443274-4b6e-4c6c-ada9-d7d945b6d176\scratchpad\pitch-deck\icons\handshak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5490972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54132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us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480560" y="541324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&amp; distribution partners welcome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realitygenius.company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2026-07-23T08:23:48Z</dcterms:created>
  <dcterms:modified xsi:type="dcterms:W3CDTF">2026-07-23T08:23:48Z</dcterms:modified>
</cp:coreProperties>
</file>